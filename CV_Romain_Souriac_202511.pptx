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797675" cy="9926638"/>
  <p:embeddedFontLst>
    <p:embeddedFont>
      <p:font typeface="Playfair Display" panose="00000500000000000000" pitchFamily="2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64F7E-E0FD-8755-59C5-B0BF77A63D45}" v="53" dt="2025-11-03T10:21:25.583"/>
    <p1510:client id="{B6F758AB-A01F-857B-A82A-200A5814AE48}" v="17" dt="2025-11-03T10:37:51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-23809" y="385"/>
            <a:ext cx="2898467" cy="6857615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4139" y="6340469"/>
            <a:ext cx="1882569" cy="294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-23809" y="385"/>
            <a:ext cx="2898467" cy="6857615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1;p1"/>
          <p:cNvCxnSpPr/>
          <p:nvPr/>
        </p:nvCxnSpPr>
        <p:spPr>
          <a:xfrm>
            <a:off x="9528895" y="284301"/>
            <a:ext cx="0" cy="6259779"/>
          </a:xfrm>
          <a:prstGeom prst="straightConnector1">
            <a:avLst/>
          </a:prstGeom>
          <a:noFill/>
          <a:ln w="19050" cap="flat" cmpd="sng">
            <a:solidFill>
              <a:srgbClr val="556F94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139" y="6340469"/>
            <a:ext cx="1882569" cy="2947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681485" y="341218"/>
            <a:ext cx="1487878" cy="1487876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381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1270000" dist="203200" dir="2299486" rotWithShape="0">
              <a:srgbClr val="000000">
                <a:alpha val="9803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491974" y="1874301"/>
            <a:ext cx="18669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Romain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Souriac</a:t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376842" y="2888741"/>
            <a:ext cx="20701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Manager</a:t>
            </a:r>
            <a:endParaRPr/>
          </a:p>
        </p:txBody>
      </p:sp>
      <p:grpSp>
        <p:nvGrpSpPr>
          <p:cNvPr id="23" name="Google Shape;23;p3"/>
          <p:cNvGrpSpPr/>
          <p:nvPr/>
        </p:nvGrpSpPr>
        <p:grpSpPr>
          <a:xfrm>
            <a:off x="403906" y="3561631"/>
            <a:ext cx="2070100" cy="584775"/>
            <a:chOff x="390374" y="3792220"/>
            <a:chExt cx="2070100" cy="584775"/>
          </a:xfrm>
        </p:grpSpPr>
        <p:sp>
          <p:nvSpPr>
            <p:cNvPr id="24" name="Google Shape;24;p3"/>
            <p:cNvSpPr txBox="1"/>
            <p:nvPr/>
          </p:nvSpPr>
          <p:spPr>
            <a:xfrm>
              <a:off x="1029668" y="3792220"/>
              <a:ext cx="1430806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années d’expérience</a:t>
              </a:r>
              <a:endParaRPr/>
            </a:p>
          </p:txBody>
        </p:sp>
        <p:sp>
          <p:nvSpPr>
            <p:cNvPr id="25" name="Google Shape;25;p3"/>
            <p:cNvSpPr txBox="1"/>
            <p:nvPr/>
          </p:nvSpPr>
          <p:spPr>
            <a:xfrm>
              <a:off x="390374" y="3792220"/>
              <a:ext cx="68834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32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28</a:t>
              </a:r>
              <a:endParaRPr/>
            </a:p>
          </p:txBody>
        </p:sp>
      </p:grpSp>
      <p:sp>
        <p:nvSpPr>
          <p:cNvPr id="26" name="Google Shape;26;p3"/>
          <p:cNvSpPr txBox="1"/>
          <p:nvPr/>
        </p:nvSpPr>
        <p:spPr>
          <a:xfrm>
            <a:off x="376842" y="4503607"/>
            <a:ext cx="2097164" cy="93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Polyvalent, je prends grand soin de vos données pour en extraire et y découvrir des informations de qualité, claires et lisibles</a:t>
            </a:r>
            <a:endParaRPr/>
          </a:p>
        </p:txBody>
      </p:sp>
      <p:grpSp>
        <p:nvGrpSpPr>
          <p:cNvPr id="27" name="Google Shape;27;p3"/>
          <p:cNvGrpSpPr/>
          <p:nvPr/>
        </p:nvGrpSpPr>
        <p:grpSpPr>
          <a:xfrm>
            <a:off x="3299428" y="284300"/>
            <a:ext cx="3535296" cy="261600"/>
            <a:chOff x="3268020" y="247924"/>
            <a:chExt cx="3535296" cy="261600"/>
          </a:xfrm>
        </p:grpSpPr>
        <p:pic>
          <p:nvPicPr>
            <p:cNvPr id="28" name="Google Shape;28;p3" descr="Imag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268020" y="268870"/>
              <a:ext cx="227892" cy="2351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 txBox="1"/>
            <p:nvPr/>
          </p:nvSpPr>
          <p:spPr>
            <a:xfrm>
              <a:off x="3464616" y="247924"/>
              <a:ext cx="33387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1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COMPÉTENCES MÉTIER/TECHNIQUE</a:t>
              </a:r>
              <a:endParaRPr/>
            </a:p>
          </p:txBody>
        </p:sp>
        <p:cxnSp>
          <p:nvCxnSpPr>
            <p:cNvPr id="30" name="Google Shape;30;p3"/>
            <p:cNvCxnSpPr/>
            <p:nvPr/>
          </p:nvCxnSpPr>
          <p:spPr>
            <a:xfrm>
              <a:off x="3558245" y="488105"/>
              <a:ext cx="1534455" cy="0"/>
            </a:xfrm>
            <a:prstGeom prst="straightConnector1">
              <a:avLst/>
            </a:prstGeom>
            <a:noFill/>
            <a:ln w="19050" cap="flat" cmpd="sng">
              <a:solidFill>
                <a:srgbClr val="0099FF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grpSp>
        <p:nvGrpSpPr>
          <p:cNvPr id="31" name="Google Shape;31;p3"/>
          <p:cNvGrpSpPr/>
          <p:nvPr/>
        </p:nvGrpSpPr>
        <p:grpSpPr>
          <a:xfrm>
            <a:off x="3299578" y="2102423"/>
            <a:ext cx="3087721" cy="301068"/>
            <a:chOff x="3299428" y="1816777"/>
            <a:chExt cx="2360532" cy="247637"/>
          </a:xfrm>
        </p:grpSpPr>
        <p:pic>
          <p:nvPicPr>
            <p:cNvPr id="32" name="Google Shape;32;p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299428" y="1859427"/>
              <a:ext cx="165076" cy="2042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33;p3"/>
            <p:cNvSpPr txBox="1"/>
            <p:nvPr/>
          </p:nvSpPr>
          <p:spPr>
            <a:xfrm>
              <a:off x="3464621" y="1816777"/>
              <a:ext cx="2195339" cy="2151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fr-FR" sz="1100" b="1" dirty="0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EXPÉRIENCES</a:t>
              </a:r>
              <a:r>
                <a:rPr lang="fr-FR" sz="1100" b="1" dirty="0">
                  <a:solidFill>
                    <a:srgbClr val="0099FF"/>
                  </a:solidFill>
                </a:rPr>
                <a:t> via ESN VISEO</a:t>
              </a:r>
              <a:endParaRPr dirty="0"/>
            </a:p>
          </p:txBody>
        </p:sp>
        <p:cxnSp>
          <p:nvCxnSpPr>
            <p:cNvPr id="34" name="Google Shape;34;p3"/>
            <p:cNvCxnSpPr/>
            <p:nvPr/>
          </p:nvCxnSpPr>
          <p:spPr>
            <a:xfrm>
              <a:off x="3558245" y="2064414"/>
              <a:ext cx="880405" cy="0"/>
            </a:xfrm>
            <a:prstGeom prst="straightConnector1">
              <a:avLst/>
            </a:prstGeom>
            <a:noFill/>
            <a:ln w="19050" cap="flat" cmpd="sng">
              <a:solidFill>
                <a:srgbClr val="0099FF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5" name="Google Shape;35;p3"/>
          <p:cNvSpPr txBox="1"/>
          <p:nvPr/>
        </p:nvSpPr>
        <p:spPr>
          <a:xfrm>
            <a:off x="3019955" y="637399"/>
            <a:ext cx="596123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000"/>
              <a:buFont typeface="Arial"/>
              <a:buChar char="•"/>
            </a:pPr>
            <a:r>
              <a:rPr lang="fr-FR" sz="10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Consultant </a:t>
            </a:r>
            <a:r>
              <a:rPr lang="fr-FR" sz="1000" b="1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chef de projet multiprojets dans le domaine décisionnel et le Data Management.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000"/>
              <a:buFont typeface="Arial"/>
              <a:buChar char="•"/>
            </a:pPr>
            <a:r>
              <a:rPr lang="fr-FR" sz="1000" b="1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Expert</a:t>
            </a:r>
            <a:r>
              <a:rPr lang="fr-FR" sz="10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 en transformation de données et alimentation de base de données</a:t>
            </a:r>
            <a:endParaRPr sz="1000" b="1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000"/>
              <a:buFont typeface="Arial"/>
              <a:buChar char="•"/>
            </a:pPr>
            <a:r>
              <a:rPr lang="fr-FR" sz="1000" b="1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Grande expertise technique</a:t>
            </a:r>
            <a:r>
              <a:rPr lang="fr-FR" sz="10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 sur les outils dits « classiques »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000"/>
              <a:buFont typeface="Arial"/>
              <a:buChar char="•"/>
            </a:pPr>
            <a:r>
              <a:rPr lang="fr-FR" sz="1000" b="1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Spécialisation sur les plateformes IPAAS (Boomi, IICS Informatica).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000"/>
              <a:buFont typeface="Arial"/>
              <a:buChar char="•"/>
            </a:pPr>
            <a:r>
              <a:rPr lang="fr-FR" sz="10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Forte </a:t>
            </a:r>
            <a:r>
              <a:rPr lang="fr-FR" sz="1000" b="1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polyvalence</a:t>
            </a:r>
            <a:r>
              <a:rPr lang="fr-FR" sz="10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 et </a:t>
            </a:r>
            <a:r>
              <a:rPr lang="fr-FR" sz="1000" b="1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adaptabilité</a:t>
            </a:r>
            <a:r>
              <a:rPr lang="fr-FR" sz="10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 sur les nouveaux outils, les nouveaux concepts et les nouvelles organisations.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000"/>
              <a:buFont typeface="Arial"/>
              <a:buChar char="•"/>
            </a:pPr>
            <a:r>
              <a:rPr lang="fr-FR" sz="1000" b="1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Encadrement</a:t>
            </a:r>
            <a:r>
              <a:rPr lang="fr-FR" sz="10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 de stagiaire et d’équipe et soutien technique.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000"/>
              <a:buFont typeface="Arial"/>
              <a:buChar char="•"/>
            </a:pPr>
            <a:r>
              <a:rPr lang="fr-FR" sz="1000" b="1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Avant-ventes</a:t>
            </a:r>
            <a:r>
              <a:rPr lang="fr-FR" sz="10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 et </a:t>
            </a:r>
            <a:r>
              <a:rPr lang="fr-FR" sz="1000" b="1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réalisations de Proof Of Concept. </a:t>
            </a: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9869825" y="4517980"/>
            <a:ext cx="2043992" cy="926656"/>
            <a:chOff x="9824156" y="247925"/>
            <a:chExt cx="2043992" cy="926656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9824156" y="247925"/>
              <a:ext cx="1253595" cy="261610"/>
              <a:chOff x="9872781" y="247925"/>
              <a:chExt cx="1253595" cy="261610"/>
            </a:xfrm>
          </p:grpSpPr>
          <p:pic>
            <p:nvPicPr>
              <p:cNvPr id="38" name="Google Shape;38;p3" descr="Image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872781" y="284301"/>
                <a:ext cx="249544" cy="2042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" name="Google Shape;39;p3"/>
              <p:cNvSpPr txBox="1"/>
              <p:nvPr/>
            </p:nvSpPr>
            <p:spPr>
              <a:xfrm>
                <a:off x="10087309" y="247925"/>
                <a:ext cx="1039067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100" b="1">
                    <a:solidFill>
                      <a:srgbClr val="0099FF"/>
                    </a:solidFill>
                    <a:latin typeface="Arial"/>
                    <a:ea typeface="Arial"/>
                    <a:cs typeface="Arial"/>
                    <a:sym typeface="Arial"/>
                  </a:rPr>
                  <a:t>FORMATION</a:t>
                </a:r>
                <a:endParaRPr/>
              </a:p>
            </p:txBody>
          </p:sp>
          <p:cxnSp>
            <p:nvCxnSpPr>
              <p:cNvPr id="40" name="Google Shape;40;p3"/>
              <p:cNvCxnSpPr/>
              <p:nvPr/>
            </p:nvCxnSpPr>
            <p:spPr>
              <a:xfrm>
                <a:off x="10186664" y="488105"/>
                <a:ext cx="848049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99FF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sp>
          <p:nvSpPr>
            <p:cNvPr id="41" name="Google Shape;41;p3"/>
            <p:cNvSpPr txBox="1"/>
            <p:nvPr/>
          </p:nvSpPr>
          <p:spPr>
            <a:xfrm>
              <a:off x="9840235" y="666750"/>
              <a:ext cx="2027913" cy="5078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IUP Miage</a:t>
              </a:r>
              <a:endParaRPr sz="900" b="1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Statisticien IUFM Toulouse</a:t>
              </a:r>
              <a:endParaRPr/>
            </a:p>
          </p:txBody>
        </p:sp>
      </p:grpSp>
      <p:grpSp>
        <p:nvGrpSpPr>
          <p:cNvPr id="42" name="Google Shape;42;p3"/>
          <p:cNvGrpSpPr/>
          <p:nvPr/>
        </p:nvGrpSpPr>
        <p:grpSpPr>
          <a:xfrm>
            <a:off x="9829459" y="1667470"/>
            <a:ext cx="2027913" cy="2749066"/>
            <a:chOff x="9840235" y="1836346"/>
            <a:chExt cx="2027913" cy="2493068"/>
          </a:xfrm>
        </p:grpSpPr>
        <p:grpSp>
          <p:nvGrpSpPr>
            <p:cNvPr id="43" name="Google Shape;43;p3"/>
            <p:cNvGrpSpPr/>
            <p:nvPr/>
          </p:nvGrpSpPr>
          <p:grpSpPr>
            <a:xfrm>
              <a:off x="9840235" y="1836346"/>
              <a:ext cx="1121852" cy="237300"/>
              <a:chOff x="9888860" y="1836346"/>
              <a:chExt cx="1121852" cy="237300"/>
            </a:xfrm>
          </p:grpSpPr>
          <p:pic>
            <p:nvPicPr>
              <p:cNvPr id="44" name="Google Shape;44;p3" descr="Image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9888860" y="1859427"/>
                <a:ext cx="217386" cy="2042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" name="Google Shape;45;p3"/>
              <p:cNvSpPr txBox="1"/>
              <p:nvPr/>
            </p:nvSpPr>
            <p:spPr>
              <a:xfrm>
                <a:off x="10087312" y="1836346"/>
                <a:ext cx="923400" cy="23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100" b="1">
                    <a:solidFill>
                      <a:srgbClr val="0099FF"/>
                    </a:solidFill>
                    <a:latin typeface="Arial"/>
                    <a:ea typeface="Arial"/>
                    <a:cs typeface="Arial"/>
                    <a:sym typeface="Arial"/>
                  </a:rPr>
                  <a:t>OUTILS</a:t>
                </a:r>
                <a:endParaRPr/>
              </a:p>
            </p:txBody>
          </p:sp>
          <p:cxnSp>
            <p:nvCxnSpPr>
              <p:cNvPr id="46" name="Google Shape;46;p3"/>
              <p:cNvCxnSpPr/>
              <p:nvPr/>
            </p:nvCxnSpPr>
            <p:spPr>
              <a:xfrm>
                <a:off x="10186664" y="2059651"/>
                <a:ext cx="495624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99FF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sp>
          <p:nvSpPr>
            <p:cNvPr id="47" name="Google Shape;47;p3"/>
            <p:cNvSpPr txBox="1"/>
            <p:nvPr/>
          </p:nvSpPr>
          <p:spPr>
            <a:xfrm>
              <a:off x="9840235" y="2236045"/>
              <a:ext cx="2027913" cy="2093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ETL</a:t>
              </a:r>
              <a:r>
                <a:rPr lang="fr-FR" sz="9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: Informatica IPaaS, Boomi, Powercenter, Datastage, SSIS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Visualisation</a:t>
              </a:r>
              <a:r>
                <a:rPr lang="fr-FR" sz="9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: Business Object, Qlikview, Cognos, Kibana, Tableau Software</a:t>
              </a:r>
              <a:br>
                <a:rPr lang="fr-FR" sz="9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Back-end</a:t>
              </a:r>
              <a:r>
                <a:rPr lang="fr-FR" sz="9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: script shell, SparkSQL, java, Perl, C.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BD</a:t>
              </a:r>
              <a:r>
                <a:rPr lang="fr-FR" sz="9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 : Teradata, Oracle, Snowflake, PostgresQL, MongoDB, ElasticSearch</a:t>
              </a:r>
              <a:endParaRPr sz="9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Analytics</a:t>
              </a:r>
              <a:r>
                <a:rPr lang="fr-FR" sz="9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 : Alteryx, DSS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p3"/>
          <p:cNvGrpSpPr/>
          <p:nvPr/>
        </p:nvGrpSpPr>
        <p:grpSpPr>
          <a:xfrm>
            <a:off x="9832404" y="281394"/>
            <a:ext cx="2057932" cy="1205929"/>
            <a:chOff x="9810216" y="3410175"/>
            <a:chExt cx="2057932" cy="1205929"/>
          </a:xfrm>
        </p:grpSpPr>
        <p:grpSp>
          <p:nvGrpSpPr>
            <p:cNvPr id="49" name="Google Shape;49;p3"/>
            <p:cNvGrpSpPr/>
            <p:nvPr/>
          </p:nvGrpSpPr>
          <p:grpSpPr>
            <a:xfrm>
              <a:off x="9810216" y="3410175"/>
              <a:ext cx="1716471" cy="289571"/>
              <a:chOff x="9858841" y="3410175"/>
              <a:chExt cx="1716471" cy="289571"/>
            </a:xfrm>
          </p:grpSpPr>
          <p:pic>
            <p:nvPicPr>
              <p:cNvPr id="50" name="Google Shape;50;p3"/>
              <p:cNvPicPr preferRelativeResize="0"/>
              <p:nvPr/>
            </p:nvPicPr>
            <p:blipFill rotWithShape="1">
              <a:blip r:embed="rId8">
                <a:alphaModFix/>
              </a:blip>
              <a:srcRect b="14404"/>
              <a:stretch/>
            </p:blipFill>
            <p:spPr>
              <a:xfrm>
                <a:off x="9858841" y="3434549"/>
                <a:ext cx="277424" cy="2374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Google Shape;51;p3"/>
              <p:cNvSpPr txBox="1"/>
              <p:nvPr/>
            </p:nvSpPr>
            <p:spPr>
              <a:xfrm>
                <a:off x="10087312" y="3410175"/>
                <a:ext cx="1488000" cy="26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100" b="1">
                    <a:solidFill>
                      <a:srgbClr val="0099FF"/>
                    </a:solidFill>
                    <a:latin typeface="Arial"/>
                    <a:ea typeface="Arial"/>
                    <a:cs typeface="Arial"/>
                    <a:sym typeface="Arial"/>
                  </a:rPr>
                  <a:t>CERTIFICATIONS</a:t>
                </a:r>
                <a:endParaRPr/>
              </a:p>
            </p:txBody>
          </p:sp>
          <p:cxnSp>
            <p:nvCxnSpPr>
              <p:cNvPr id="52" name="Google Shape;52;p3"/>
              <p:cNvCxnSpPr/>
              <p:nvPr/>
            </p:nvCxnSpPr>
            <p:spPr>
              <a:xfrm>
                <a:off x="10128842" y="3699746"/>
                <a:ext cx="1109986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99FF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sp>
          <p:nvSpPr>
            <p:cNvPr id="53" name="Google Shape;53;p3"/>
            <p:cNvSpPr txBox="1"/>
            <p:nvPr/>
          </p:nvSpPr>
          <p:spPr>
            <a:xfrm>
              <a:off x="9840235" y="3831314"/>
              <a:ext cx="2027913" cy="7847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dirty="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Certifié </a:t>
              </a:r>
              <a:r>
                <a:rPr lang="fr-FR" sz="900" b="1" dirty="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Informatica </a:t>
              </a:r>
              <a:r>
                <a:rPr lang="fr-FR" sz="900" b="1" dirty="0" err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Ipaas</a:t>
              </a:r>
              <a:r>
                <a:rPr lang="fr-FR" sz="900" b="1" dirty="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 (IICS)</a:t>
              </a:r>
              <a:endParaRPr dirty="0"/>
            </a:p>
            <a:p>
              <a:r>
                <a:rPr lang="fr-FR" sz="900" dirty="0">
                  <a:solidFill>
                    <a:srgbClr val="003A70"/>
                  </a:solidFill>
                </a:rPr>
                <a:t>Certifié </a:t>
              </a:r>
              <a:r>
                <a:rPr lang="fr-FR" sz="900" dirty="0" err="1">
                  <a:solidFill>
                    <a:srgbClr val="003A70"/>
                  </a:solidFill>
                </a:rPr>
                <a:t>Integration</a:t>
              </a:r>
              <a:r>
                <a:rPr lang="fr-FR" sz="900" dirty="0">
                  <a:solidFill>
                    <a:srgbClr val="003A70"/>
                  </a:solidFill>
                </a:rPr>
                <a:t> Professional </a:t>
              </a:r>
              <a:r>
                <a:rPr lang="fr-FR" sz="900" dirty="0" err="1">
                  <a:solidFill>
                    <a:srgbClr val="003A70"/>
                  </a:solidFill>
                </a:rPr>
                <a:t>Boomi</a:t>
              </a:r>
              <a:endParaRPr lang="fr-FR" sz="900" dirty="0">
                <a:solidFill>
                  <a:srgbClr val="003A70"/>
                </a:solidFill>
              </a:endParaRPr>
            </a:p>
            <a:p>
              <a:pPr marL="0" marR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Certifié Associate </a:t>
              </a:r>
              <a:r>
                <a:rPr lang="fr-FR" sz="900" err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Integration</a:t>
              </a:r>
              <a:r>
                <a:rPr lang="fr-FR" sz="900" dirty="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fr-FR" sz="900" err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Developer</a:t>
              </a:r>
              <a:r>
                <a:rPr lang="fr-FR" sz="900" dirty="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fr-FR" sz="900" b="1" err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Boomi</a:t>
              </a:r>
              <a:r>
                <a:rPr lang="fr-FR" sz="900" b="1" dirty="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 Dell</a:t>
              </a:r>
              <a:endParaRPr sz="900">
                <a:solidFill>
                  <a:srgbClr val="003A70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54" name="Google Shape;54;p3"/>
          <p:cNvGrpSpPr/>
          <p:nvPr/>
        </p:nvGrpSpPr>
        <p:grpSpPr>
          <a:xfrm>
            <a:off x="9833839" y="5621755"/>
            <a:ext cx="2077964" cy="789544"/>
            <a:chOff x="9790184" y="5019815"/>
            <a:chExt cx="2077964" cy="789544"/>
          </a:xfrm>
        </p:grpSpPr>
        <p:grpSp>
          <p:nvGrpSpPr>
            <p:cNvPr id="55" name="Google Shape;55;p3"/>
            <p:cNvGrpSpPr/>
            <p:nvPr/>
          </p:nvGrpSpPr>
          <p:grpSpPr>
            <a:xfrm>
              <a:off x="9790184" y="5019815"/>
              <a:ext cx="1216905" cy="261600"/>
              <a:chOff x="9838809" y="5019815"/>
              <a:chExt cx="1216905" cy="261600"/>
            </a:xfrm>
          </p:grpSpPr>
          <p:pic>
            <p:nvPicPr>
              <p:cNvPr id="56" name="Google Shape;56;p3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9838809" y="5042890"/>
                <a:ext cx="317488" cy="215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" name="Google Shape;57;p3"/>
              <p:cNvSpPr txBox="1"/>
              <p:nvPr/>
            </p:nvSpPr>
            <p:spPr>
              <a:xfrm>
                <a:off x="10087314" y="5019815"/>
                <a:ext cx="968400" cy="26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100" b="1">
                    <a:solidFill>
                      <a:srgbClr val="0099FF"/>
                    </a:solidFill>
                    <a:latin typeface="Arial"/>
                    <a:ea typeface="Arial"/>
                    <a:cs typeface="Arial"/>
                    <a:sym typeface="Arial"/>
                  </a:rPr>
                  <a:t>LANGUES</a:t>
                </a:r>
                <a:endParaRPr/>
              </a:p>
            </p:txBody>
          </p:sp>
          <p:cxnSp>
            <p:nvCxnSpPr>
              <p:cNvPr id="58" name="Google Shape;58;p3"/>
              <p:cNvCxnSpPr/>
              <p:nvPr/>
            </p:nvCxnSpPr>
            <p:spPr>
              <a:xfrm>
                <a:off x="10186664" y="5265976"/>
                <a:ext cx="643261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99FF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sp>
          <p:nvSpPr>
            <p:cNvPr id="59" name="Google Shape;59;p3"/>
            <p:cNvSpPr txBox="1"/>
            <p:nvPr/>
          </p:nvSpPr>
          <p:spPr>
            <a:xfrm>
              <a:off x="9840235" y="5440027"/>
              <a:ext cx="20279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Anglais </a:t>
              </a:r>
              <a:r>
                <a:rPr lang="fr-FR" sz="9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 : Professionnel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3"/>
          <p:cNvSpPr txBox="1"/>
          <p:nvPr/>
        </p:nvSpPr>
        <p:spPr>
          <a:xfrm flipH="1">
            <a:off x="151362" y="4387965"/>
            <a:ext cx="255152" cy="7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50" tIns="22250" rIns="22250" bIns="222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b="0" u="none">
                <a:solidFill>
                  <a:srgbClr val="003A7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 sz="4800" b="0" u="none">
              <a:solidFill>
                <a:srgbClr val="003A7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1" name="Google Shape;61;p3"/>
          <p:cNvSpPr txBox="1"/>
          <p:nvPr/>
        </p:nvSpPr>
        <p:spPr>
          <a:xfrm rot="10800000" flipH="1">
            <a:off x="2255713" y="4793102"/>
            <a:ext cx="280627" cy="7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50" tIns="22250" rIns="22250" bIns="222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b="0" u="none">
                <a:solidFill>
                  <a:srgbClr val="003A7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  <p:grpSp>
        <p:nvGrpSpPr>
          <p:cNvPr id="62" name="Google Shape;62;p3"/>
          <p:cNvGrpSpPr/>
          <p:nvPr/>
        </p:nvGrpSpPr>
        <p:grpSpPr>
          <a:xfrm>
            <a:off x="3001138" y="5535546"/>
            <a:ext cx="6189724" cy="1135500"/>
            <a:chOff x="3296647" y="2164786"/>
            <a:chExt cx="6189724" cy="498865"/>
          </a:xfrm>
        </p:grpSpPr>
        <p:sp>
          <p:nvSpPr>
            <p:cNvPr id="63" name="Google Shape;63;p3"/>
            <p:cNvSpPr txBox="1"/>
            <p:nvPr/>
          </p:nvSpPr>
          <p:spPr>
            <a:xfrm>
              <a:off x="3299426" y="2352652"/>
              <a:ext cx="6186945" cy="310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Administration du tenant Boomi</a:t>
              </a:r>
              <a:endParaRPr sz="10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Mise en place d’une quarantaine d’interfaces entre D365 FO et des applications tierces (SAGE, Zeendoc, Talentia, SQL Serveur, Imanage, Hudi, Bluebox …). Flux d’intégration et API Rest. 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Tierce Maintenance Applicative depuis janvier 2023</a:t>
              </a:r>
              <a:endParaRPr/>
            </a:p>
          </p:txBody>
        </p:sp>
        <p:sp>
          <p:nvSpPr>
            <p:cNvPr id="64" name="Google Shape;64;p3"/>
            <p:cNvSpPr txBox="1"/>
            <p:nvPr/>
          </p:nvSpPr>
          <p:spPr>
            <a:xfrm>
              <a:off x="3296647" y="2164786"/>
              <a:ext cx="5768373" cy="2028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CMS Francis Lefebvre</a:t>
              </a:r>
              <a:br>
                <a:rPr lang="fr-FR" sz="1200" b="1">
                  <a:solidFill>
                    <a:srgbClr val="00A1FE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Chef de projet Boomi | 1</a:t>
              </a:r>
              <a:r>
                <a:rPr lang="fr-FR" sz="1200" b="1" baseline="30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er</a:t>
              </a: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 semestre 2021 - </a:t>
              </a:r>
              <a:r>
                <a:rPr lang="fr-FR" sz="1200" b="1">
                  <a:solidFill>
                    <a:srgbClr val="003A70"/>
                  </a:solidFill>
                </a:rPr>
                <a:t>Juin 2025</a:t>
              </a:r>
              <a:endParaRPr/>
            </a:p>
          </p:txBody>
        </p:sp>
      </p:grpSp>
      <p:grpSp>
        <p:nvGrpSpPr>
          <p:cNvPr id="65" name="Google Shape;65;p3"/>
          <p:cNvGrpSpPr/>
          <p:nvPr/>
        </p:nvGrpSpPr>
        <p:grpSpPr>
          <a:xfrm>
            <a:off x="3019510" y="4352818"/>
            <a:ext cx="6383026" cy="1275678"/>
            <a:chOff x="3296647" y="2164786"/>
            <a:chExt cx="6189724" cy="579015"/>
          </a:xfrm>
        </p:grpSpPr>
        <p:sp>
          <p:nvSpPr>
            <p:cNvPr id="66" name="Google Shape;66;p3"/>
            <p:cNvSpPr txBox="1"/>
            <p:nvPr/>
          </p:nvSpPr>
          <p:spPr>
            <a:xfrm>
              <a:off x="3299426" y="2352652"/>
              <a:ext cx="6186945" cy="3911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Administration du tenant Boomi</a:t>
              </a:r>
              <a:endParaRPr sz="10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Build et Run : Suivi projets et développements de multiples interfaces de transferts de données sur des sources/cibles multiples telles que : Oracle SGBD, Cegid, Salesforce, Zycus, FinanceActive, Docusign.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Réalisation de Proof Of Concept SPIE Belgique </a:t>
              </a:r>
              <a:endParaRPr/>
            </a:p>
          </p:txBody>
        </p:sp>
        <p:sp>
          <p:nvSpPr>
            <p:cNvPr id="67" name="Google Shape;67;p3"/>
            <p:cNvSpPr txBox="1"/>
            <p:nvPr/>
          </p:nvSpPr>
          <p:spPr>
            <a:xfrm>
              <a:off x="3296647" y="2164786"/>
              <a:ext cx="5768373" cy="209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Spie Opérations</a:t>
              </a:r>
              <a:br>
                <a:rPr lang="fr-FR" sz="1200" b="1">
                  <a:solidFill>
                    <a:srgbClr val="00A1FE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Chef de projet Boomi | 1</a:t>
              </a:r>
              <a:r>
                <a:rPr lang="fr-FR" sz="1200" b="1" baseline="30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er</a:t>
              </a: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 semestre 2022 - </a:t>
              </a:r>
              <a:r>
                <a:rPr lang="fr-FR" sz="1200" b="1">
                  <a:solidFill>
                    <a:srgbClr val="003A70"/>
                  </a:solidFill>
                </a:rPr>
                <a:t>Juin 2025</a:t>
              </a:r>
              <a:endParaRPr/>
            </a:p>
          </p:txBody>
        </p:sp>
      </p:grpSp>
      <p:grpSp>
        <p:nvGrpSpPr>
          <p:cNvPr id="68" name="Google Shape;68;p3"/>
          <p:cNvGrpSpPr/>
          <p:nvPr/>
        </p:nvGrpSpPr>
        <p:grpSpPr>
          <a:xfrm>
            <a:off x="3020899" y="3312181"/>
            <a:ext cx="6189724" cy="967902"/>
            <a:chOff x="3296647" y="2164786"/>
            <a:chExt cx="6189724" cy="439319"/>
          </a:xfrm>
        </p:grpSpPr>
        <p:sp>
          <p:nvSpPr>
            <p:cNvPr id="69" name="Google Shape;69;p3"/>
            <p:cNvSpPr txBox="1"/>
            <p:nvPr/>
          </p:nvSpPr>
          <p:spPr>
            <a:xfrm>
              <a:off x="3299426" y="2352652"/>
              <a:ext cx="6186945" cy="251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Administration du tenant Boomi</a:t>
              </a:r>
              <a:endParaRPr sz="10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Build et Run : Suivi projets et développements dans le cadre d’une activité e-Commerce. Créations et réalisations d’interfaces entre Shopify, Lengow, Onestock, BC Microsoft, SNDR, Baback.</a:t>
              </a:r>
              <a:endParaRPr/>
            </a:p>
          </p:txBody>
        </p:sp>
        <p:sp>
          <p:nvSpPr>
            <p:cNvPr id="70" name="Google Shape;70;p3"/>
            <p:cNvSpPr txBox="1"/>
            <p:nvPr/>
          </p:nvSpPr>
          <p:spPr>
            <a:xfrm>
              <a:off x="3296647" y="2164786"/>
              <a:ext cx="5768373" cy="209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Doudounes JOTT</a:t>
              </a:r>
              <a:br>
                <a:rPr lang="fr-FR" sz="1200" b="1">
                  <a:solidFill>
                    <a:srgbClr val="00A1FE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Chef de projet Boomi | 2ème semestre 2023 - Décembre 2024</a:t>
              </a:r>
              <a:endParaRPr/>
            </a:p>
          </p:txBody>
        </p:sp>
      </p:grpSp>
      <p:grpSp>
        <p:nvGrpSpPr>
          <p:cNvPr id="71" name="Google Shape;71;p3"/>
          <p:cNvGrpSpPr/>
          <p:nvPr/>
        </p:nvGrpSpPr>
        <p:grpSpPr>
          <a:xfrm>
            <a:off x="3019510" y="2425433"/>
            <a:ext cx="6189724" cy="814014"/>
            <a:chOff x="3296647" y="2164786"/>
            <a:chExt cx="6189724" cy="369471"/>
          </a:xfrm>
        </p:grpSpPr>
        <p:sp>
          <p:nvSpPr>
            <p:cNvPr id="72" name="Google Shape;72;p3"/>
            <p:cNvSpPr txBox="1"/>
            <p:nvPr/>
          </p:nvSpPr>
          <p:spPr>
            <a:xfrm>
              <a:off x="3299426" y="2352652"/>
              <a:ext cx="6186945" cy="1816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Audit de l’existant Boomi, mise en place et réalisations des actions correctives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Administration du tenant Boomi</a:t>
              </a:r>
              <a:endParaRPr sz="10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"/>
            <p:cNvSpPr txBox="1"/>
            <p:nvPr/>
          </p:nvSpPr>
          <p:spPr>
            <a:xfrm>
              <a:off x="3296647" y="2164786"/>
              <a:ext cx="5768373" cy="209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Spie Oil &amp; Gas Services</a:t>
              </a:r>
              <a:br>
                <a:rPr lang="fr-FR" sz="1200" b="1">
                  <a:solidFill>
                    <a:srgbClr val="00A1FE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Chef de projet Boomi | 3ème semestre 2023 - Juin 2025</a:t>
              </a:r>
              <a:endParaRPr/>
            </a:p>
          </p:txBody>
        </p:sp>
      </p:grpSp>
      <p:sp>
        <p:nvSpPr>
          <p:cNvPr id="74" name="Google Shape;74;p3"/>
          <p:cNvSpPr/>
          <p:nvPr/>
        </p:nvSpPr>
        <p:spPr>
          <a:xfrm>
            <a:off x="452075" y="6002675"/>
            <a:ext cx="2028000" cy="668400"/>
          </a:xfrm>
          <a:prstGeom prst="rect">
            <a:avLst/>
          </a:prstGeom>
          <a:solidFill>
            <a:srgbClr val="0099FF"/>
          </a:solidFill>
          <a:ln w="9525" cap="flat" cmpd="sng">
            <a:solidFill>
              <a:srgbClr val="009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4"/>
          <p:cNvGrpSpPr/>
          <p:nvPr/>
        </p:nvGrpSpPr>
        <p:grpSpPr>
          <a:xfrm>
            <a:off x="3237284" y="233150"/>
            <a:ext cx="1788190" cy="261600"/>
            <a:chOff x="3299428" y="1816774"/>
            <a:chExt cx="1788190" cy="261600"/>
          </a:xfrm>
        </p:grpSpPr>
        <p:pic>
          <p:nvPicPr>
            <p:cNvPr id="80" name="Google Shape;80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99428" y="1859427"/>
              <a:ext cx="165076" cy="2042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4"/>
            <p:cNvSpPr txBox="1"/>
            <p:nvPr/>
          </p:nvSpPr>
          <p:spPr>
            <a:xfrm>
              <a:off x="3464618" y="1816774"/>
              <a:ext cx="1623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1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EXPÉRIENCES </a:t>
              </a:r>
              <a:endParaRPr/>
            </a:p>
          </p:txBody>
        </p:sp>
        <p:cxnSp>
          <p:nvCxnSpPr>
            <p:cNvPr id="82" name="Google Shape;82;p4"/>
            <p:cNvCxnSpPr/>
            <p:nvPr/>
          </p:nvCxnSpPr>
          <p:spPr>
            <a:xfrm>
              <a:off x="3558245" y="2064414"/>
              <a:ext cx="880405" cy="0"/>
            </a:xfrm>
            <a:prstGeom prst="straightConnector1">
              <a:avLst/>
            </a:prstGeom>
            <a:noFill/>
            <a:ln w="19050" cap="flat" cmpd="sng">
              <a:solidFill>
                <a:srgbClr val="0099FF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grpSp>
        <p:nvGrpSpPr>
          <p:cNvPr id="83" name="Google Shape;83;p4"/>
          <p:cNvGrpSpPr/>
          <p:nvPr/>
        </p:nvGrpSpPr>
        <p:grpSpPr>
          <a:xfrm>
            <a:off x="3219502" y="5356922"/>
            <a:ext cx="6186945" cy="1009024"/>
            <a:chOff x="3299426" y="2158959"/>
            <a:chExt cx="6186945" cy="429516"/>
          </a:xfrm>
        </p:grpSpPr>
        <p:sp>
          <p:nvSpPr>
            <p:cNvPr id="84" name="Google Shape;84;p4"/>
            <p:cNvSpPr txBox="1"/>
            <p:nvPr/>
          </p:nvSpPr>
          <p:spPr>
            <a:xfrm>
              <a:off x="3299426" y="2352652"/>
              <a:ext cx="6186945" cy="235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Alimentation des datamarts Publications, Personnels, Structures et contrats partenariats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Reporting Géographiques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Technos : Powercenter Informatica, Qlikview 10, Oracle 10, Unix</a:t>
              </a:r>
              <a:endParaRPr/>
            </a:p>
          </p:txBody>
        </p:sp>
        <p:sp>
          <p:nvSpPr>
            <p:cNvPr id="85" name="Google Shape;85;p4"/>
            <p:cNvSpPr txBox="1"/>
            <p:nvPr/>
          </p:nvSpPr>
          <p:spPr>
            <a:xfrm>
              <a:off x="3299426" y="2158959"/>
              <a:ext cx="5768373" cy="2138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CNRS de Toulouse</a:t>
              </a:r>
              <a:br>
                <a:rPr lang="fr-FR" sz="1200" b="1">
                  <a:solidFill>
                    <a:srgbClr val="00A1FE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Consultant décisionnel | 3</a:t>
              </a:r>
              <a:r>
                <a:rPr lang="fr-FR" sz="1200" b="1" baseline="30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ème</a:t>
              </a: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 et 4</a:t>
              </a:r>
              <a:r>
                <a:rPr lang="fr-FR" sz="1200" b="1" baseline="30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ème</a:t>
              </a: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 trimestre 2010</a:t>
              </a:r>
              <a:endParaRPr/>
            </a:p>
          </p:txBody>
        </p:sp>
      </p:grpSp>
      <p:grpSp>
        <p:nvGrpSpPr>
          <p:cNvPr id="86" name="Google Shape;86;p4"/>
          <p:cNvGrpSpPr/>
          <p:nvPr/>
        </p:nvGrpSpPr>
        <p:grpSpPr>
          <a:xfrm>
            <a:off x="3207056" y="4220552"/>
            <a:ext cx="5777887" cy="1287695"/>
            <a:chOff x="3299426" y="1819886"/>
            <a:chExt cx="5777887" cy="1287695"/>
          </a:xfrm>
        </p:grpSpPr>
        <p:sp>
          <p:nvSpPr>
            <p:cNvPr id="87" name="Google Shape;87;p4"/>
            <p:cNvSpPr txBox="1"/>
            <p:nvPr/>
          </p:nvSpPr>
          <p:spPr>
            <a:xfrm>
              <a:off x="3308940" y="2230418"/>
              <a:ext cx="5768373" cy="8771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Mise en place de l’application de référentiel client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Installation plateforme MDS et DQS, mise en place de la maintenance, rédaction de la documentation technique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Technos : SQL Server 2012, MDS, DQS, SSIS 2010</a:t>
              </a:r>
              <a:endParaRPr/>
            </a:p>
            <a:p>
              <a:pPr marL="285750" marR="0" lvl="0" indent="-2159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1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"/>
            <p:cNvSpPr txBox="1"/>
            <p:nvPr/>
          </p:nvSpPr>
          <p:spPr>
            <a:xfrm>
              <a:off x="3299426" y="1819886"/>
              <a:ext cx="57683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Coopérative agricole Arterris</a:t>
              </a:r>
              <a:br>
                <a:rPr lang="fr-FR" sz="1200" b="1">
                  <a:solidFill>
                    <a:srgbClr val="00A1FE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Consultant technique | 4ème trimestre 2013</a:t>
              </a:r>
              <a:endParaRPr/>
            </a:p>
          </p:txBody>
        </p:sp>
      </p:grpSp>
      <p:grpSp>
        <p:nvGrpSpPr>
          <p:cNvPr id="89" name="Google Shape;89;p4"/>
          <p:cNvGrpSpPr/>
          <p:nvPr/>
        </p:nvGrpSpPr>
        <p:grpSpPr>
          <a:xfrm>
            <a:off x="3207055" y="2628807"/>
            <a:ext cx="5768373" cy="1531429"/>
            <a:chOff x="3299427" y="2194810"/>
            <a:chExt cx="5768373" cy="1608224"/>
          </a:xfrm>
        </p:grpSpPr>
        <p:sp>
          <p:nvSpPr>
            <p:cNvPr id="90" name="Google Shape;90;p4"/>
            <p:cNvSpPr txBox="1"/>
            <p:nvPr/>
          </p:nvSpPr>
          <p:spPr>
            <a:xfrm>
              <a:off x="3299427" y="2574835"/>
              <a:ext cx="5768373" cy="12281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Projet datamart Altea CM et Altea FM (Powercenter) 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Projet suivi de l’activité des agents de la piste (ELK, Hadoop)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Automatisation algorithmes ML de la recherche opérationnelle (Python, Skein, Hadoop)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Réalisation divers projets : Bienvenue (Lounge), Datactrl (Contrôle de cohérence des données), RTC (Ressources), GPS (Prestations), XBAG (excédents bagages)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Technos : Powermart Informatica, Spark, Suite ELK, MongoDB, Hiveql, Talend MM, BI4 et BOXi, Unix, Perl, PostgreSql, Oracle, Teradata.</a:t>
              </a:r>
              <a:endParaRPr/>
            </a:p>
          </p:txBody>
        </p:sp>
        <p:sp>
          <p:nvSpPr>
            <p:cNvPr id="91" name="Google Shape;91;p4"/>
            <p:cNvSpPr txBox="1"/>
            <p:nvPr/>
          </p:nvSpPr>
          <p:spPr>
            <a:xfrm>
              <a:off x="3299427" y="2194810"/>
              <a:ext cx="57683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Compagnie aérienne Air France</a:t>
              </a:r>
              <a:br>
                <a:rPr lang="fr-FR" sz="1200" b="1">
                  <a:solidFill>
                    <a:srgbClr val="00A1FE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Expert technique et chef de Projet Domaine Exploitation | 2007-2020 </a:t>
              </a:r>
              <a:endParaRPr/>
            </a:p>
          </p:txBody>
        </p:sp>
      </p:grpSp>
      <p:grpSp>
        <p:nvGrpSpPr>
          <p:cNvPr id="92" name="Google Shape;92;p4"/>
          <p:cNvGrpSpPr/>
          <p:nvPr/>
        </p:nvGrpSpPr>
        <p:grpSpPr>
          <a:xfrm>
            <a:off x="3207055" y="1735211"/>
            <a:ext cx="6186945" cy="773713"/>
            <a:chOff x="3296647" y="2164786"/>
            <a:chExt cx="6186945" cy="329350"/>
          </a:xfrm>
        </p:grpSpPr>
        <p:sp>
          <p:nvSpPr>
            <p:cNvPr id="93" name="Google Shape;93;p4"/>
            <p:cNvSpPr txBox="1"/>
            <p:nvPr/>
          </p:nvSpPr>
          <p:spPr>
            <a:xfrm>
              <a:off x="3296647" y="2323819"/>
              <a:ext cx="6186945" cy="1703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Automatisation du chargement du dictionnaire de données (Teradata) et des usages de données via des extractions graphQL de Tableau Software</a:t>
              </a:r>
              <a:endParaRPr/>
            </a:p>
          </p:txBody>
        </p:sp>
        <p:sp>
          <p:nvSpPr>
            <p:cNvPr id="94" name="Google Shape;94;p4"/>
            <p:cNvSpPr txBox="1"/>
            <p:nvPr/>
          </p:nvSpPr>
          <p:spPr>
            <a:xfrm>
              <a:off x="3296647" y="2164786"/>
              <a:ext cx="5768373" cy="1965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Bouygues Telecom</a:t>
              </a:r>
              <a:br>
                <a:rPr lang="fr-FR" sz="1200" b="1">
                  <a:solidFill>
                    <a:srgbClr val="00A1FE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Etude et automatisation alimentation Data Galaxy| nov 2021- mai 2022</a:t>
              </a:r>
              <a:endParaRPr/>
            </a:p>
          </p:txBody>
        </p:sp>
      </p:grpSp>
      <p:grpSp>
        <p:nvGrpSpPr>
          <p:cNvPr id="95" name="Google Shape;95;p4"/>
          <p:cNvGrpSpPr/>
          <p:nvPr/>
        </p:nvGrpSpPr>
        <p:grpSpPr>
          <a:xfrm>
            <a:off x="3207054" y="687418"/>
            <a:ext cx="6186945" cy="855137"/>
            <a:chOff x="3299426" y="2158959"/>
            <a:chExt cx="6186945" cy="364010"/>
          </a:xfrm>
        </p:grpSpPr>
        <p:sp>
          <p:nvSpPr>
            <p:cNvPr id="96" name="Google Shape;96;p4"/>
            <p:cNvSpPr txBox="1"/>
            <p:nvPr/>
          </p:nvSpPr>
          <p:spPr>
            <a:xfrm>
              <a:off x="3299426" y="2352652"/>
              <a:ext cx="6186945" cy="1703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Mise en place du tenant Boomi : administration, DAT, procédure d’exploitation.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Suivi projet + Devs : Mise en place d’interfaces entre SAP 4/HANA et Snowflake.</a:t>
              </a:r>
              <a:endParaRPr/>
            </a:p>
          </p:txBody>
        </p:sp>
        <p:sp>
          <p:nvSpPr>
            <p:cNvPr id="97" name="Google Shape;97;p4"/>
            <p:cNvSpPr txBox="1"/>
            <p:nvPr/>
          </p:nvSpPr>
          <p:spPr>
            <a:xfrm>
              <a:off x="3299426" y="2158959"/>
              <a:ext cx="5768373" cy="1965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Cabine GIDE</a:t>
              </a:r>
              <a:br>
                <a:rPr lang="fr-FR" sz="1200" b="1">
                  <a:solidFill>
                    <a:srgbClr val="00A1FE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Chef de projet Boomi | 1</a:t>
              </a:r>
              <a:r>
                <a:rPr lang="fr-FR" sz="1200" b="1" baseline="30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er</a:t>
              </a: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 semestre 2022 – fin 2023</a:t>
              </a:r>
              <a:endParaRPr/>
            </a:p>
          </p:txBody>
        </p:sp>
      </p:grpSp>
      <p:sp>
        <p:nvSpPr>
          <p:cNvPr id="98" name="Google Shape;98;p4"/>
          <p:cNvSpPr/>
          <p:nvPr/>
        </p:nvSpPr>
        <p:spPr>
          <a:xfrm>
            <a:off x="452075" y="6002675"/>
            <a:ext cx="2028000" cy="668400"/>
          </a:xfrm>
          <a:prstGeom prst="rect">
            <a:avLst/>
          </a:prstGeom>
          <a:solidFill>
            <a:srgbClr val="0099FF"/>
          </a:solidFill>
          <a:ln w="9525" cap="flat" cmpd="sng">
            <a:solidFill>
              <a:srgbClr val="009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5"/>
          <p:cNvGrpSpPr/>
          <p:nvPr/>
        </p:nvGrpSpPr>
        <p:grpSpPr>
          <a:xfrm>
            <a:off x="3237284" y="233150"/>
            <a:ext cx="1554191" cy="261600"/>
            <a:chOff x="3299428" y="1816774"/>
            <a:chExt cx="1554191" cy="261600"/>
          </a:xfrm>
        </p:grpSpPr>
        <p:pic>
          <p:nvPicPr>
            <p:cNvPr id="104" name="Google Shape;104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99428" y="1859427"/>
              <a:ext cx="165076" cy="2042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5"/>
            <p:cNvSpPr txBox="1"/>
            <p:nvPr/>
          </p:nvSpPr>
          <p:spPr>
            <a:xfrm>
              <a:off x="3464619" y="1816774"/>
              <a:ext cx="1389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1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EXPÉRIENCES </a:t>
              </a:r>
              <a:endParaRPr/>
            </a:p>
          </p:txBody>
        </p:sp>
        <p:cxnSp>
          <p:nvCxnSpPr>
            <p:cNvPr id="106" name="Google Shape;106;p5"/>
            <p:cNvCxnSpPr/>
            <p:nvPr/>
          </p:nvCxnSpPr>
          <p:spPr>
            <a:xfrm>
              <a:off x="3558245" y="2064414"/>
              <a:ext cx="880405" cy="0"/>
            </a:xfrm>
            <a:prstGeom prst="straightConnector1">
              <a:avLst/>
            </a:prstGeom>
            <a:noFill/>
            <a:ln w="19050" cap="flat" cmpd="sng">
              <a:solidFill>
                <a:srgbClr val="0099FF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grpSp>
        <p:nvGrpSpPr>
          <p:cNvPr id="107" name="Google Shape;107;p5"/>
          <p:cNvGrpSpPr/>
          <p:nvPr/>
        </p:nvGrpSpPr>
        <p:grpSpPr>
          <a:xfrm>
            <a:off x="2999595" y="4681421"/>
            <a:ext cx="5768373" cy="1395688"/>
            <a:chOff x="3299427" y="2194810"/>
            <a:chExt cx="5768373" cy="1395688"/>
          </a:xfrm>
        </p:grpSpPr>
        <p:sp>
          <p:nvSpPr>
            <p:cNvPr id="108" name="Google Shape;108;p5"/>
            <p:cNvSpPr txBox="1"/>
            <p:nvPr/>
          </p:nvSpPr>
          <p:spPr>
            <a:xfrm>
              <a:off x="3299427" y="2574835"/>
              <a:ext cx="5768373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Réalisation d’études statistiques : administration de fichiers de données, techniques de nettoyage et d’homogénéisation des données, transformations de variables, recherches de modèles, évaluation des résultats et intégration des connaissances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Réalisation de formations statistiques : statistique descriptive, statistique inférentielle, analyses multidimensionnelles, analyses des données textuelles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Technos : SPADN, SPADT, SPSS, MSACCESS</a:t>
              </a:r>
              <a:endParaRPr/>
            </a:p>
          </p:txBody>
        </p:sp>
        <p:sp>
          <p:nvSpPr>
            <p:cNvPr id="109" name="Google Shape;109;p5"/>
            <p:cNvSpPr txBox="1"/>
            <p:nvPr/>
          </p:nvSpPr>
          <p:spPr>
            <a:xfrm>
              <a:off x="3299427" y="2194810"/>
              <a:ext cx="57683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Centre de statistique de l’IUFM de Toulouse</a:t>
              </a:r>
              <a:br>
                <a:rPr lang="fr-FR" sz="1200" b="1">
                  <a:solidFill>
                    <a:srgbClr val="00A1FE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Statisticien | 1994-1998</a:t>
              </a:r>
              <a:endParaRPr/>
            </a:p>
          </p:txBody>
        </p:sp>
      </p:grpSp>
      <p:grpSp>
        <p:nvGrpSpPr>
          <p:cNvPr id="110" name="Google Shape;110;p5"/>
          <p:cNvGrpSpPr/>
          <p:nvPr/>
        </p:nvGrpSpPr>
        <p:grpSpPr>
          <a:xfrm>
            <a:off x="2999595" y="537413"/>
            <a:ext cx="5768373" cy="2232426"/>
            <a:chOff x="3299427" y="2194810"/>
            <a:chExt cx="5768373" cy="1964145"/>
          </a:xfrm>
        </p:grpSpPr>
        <p:sp>
          <p:nvSpPr>
            <p:cNvPr id="111" name="Google Shape;111;p5"/>
            <p:cNvSpPr txBox="1"/>
            <p:nvPr/>
          </p:nvSpPr>
          <p:spPr>
            <a:xfrm>
              <a:off x="3299427" y="2574835"/>
              <a:ext cx="5768373" cy="1584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Projet IRIS : déplacements dans les filiales du groupes pour la mise en place d’un module de statistique des ventes. Entretiens, développements, installation et automatisation de la solution, formation et accompagnements des utilisateurs.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Mise en place et intégration de la consolidation des clients du groupe (CCG)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Mise en place et intégration des coûts de distribution des produits PF destinés à l’export et aux différentes filiales (CDD)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Mise en place et intégration des données commerciales des systèmes opérants et création des rapports standards aux utilisateurs (SDV)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Technos : Unix, Transact-SQL sur SQL server 2000, procédures PL/SQL, Datastage, SyncSort, Cognos Upfront, Transformer, Powerplay 6 et Impromptu 5.</a:t>
              </a:r>
              <a:endParaRPr/>
            </a:p>
            <a:p>
              <a:pPr marL="285750" marR="0" lvl="0" indent="-2159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1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"/>
            <p:cNvSpPr txBox="1"/>
            <p:nvPr/>
          </p:nvSpPr>
          <p:spPr>
            <a:xfrm>
              <a:off x="3299427" y="2194810"/>
              <a:ext cx="57683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Laboratoire Pierre Fabre</a:t>
              </a:r>
              <a:br>
                <a:rPr lang="fr-FR" sz="1200" b="1">
                  <a:solidFill>
                    <a:srgbClr val="00A1FE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Consultant décisionnel | 1999-2007 </a:t>
              </a:r>
              <a:endParaRPr/>
            </a:p>
          </p:txBody>
        </p:sp>
      </p:grpSp>
      <p:grpSp>
        <p:nvGrpSpPr>
          <p:cNvPr id="113" name="Google Shape;113;p5"/>
          <p:cNvGrpSpPr/>
          <p:nvPr/>
        </p:nvGrpSpPr>
        <p:grpSpPr>
          <a:xfrm>
            <a:off x="2999595" y="2693351"/>
            <a:ext cx="6186945" cy="1895555"/>
            <a:chOff x="3299427" y="2215985"/>
            <a:chExt cx="6186945" cy="877887"/>
          </a:xfrm>
        </p:grpSpPr>
        <p:sp>
          <p:nvSpPr>
            <p:cNvPr id="114" name="Google Shape;114;p5"/>
            <p:cNvSpPr txBox="1"/>
            <p:nvPr/>
          </p:nvSpPr>
          <p:spPr>
            <a:xfrm>
              <a:off x="3299427" y="2409678"/>
              <a:ext cx="6186945" cy="684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Robert Bosch à Rodez : Participation à la mise en œuvre d’un Datamart pour le suivi des horaires des cadres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Hôpitaux de Toulouse : Edition de rapports sur Cognos Impromptu à partir de la base de production sous Oracle, réalisation de tris à plat, tris croisés, formation et conseil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Sun Microsystems à Paris : Création d'un questionnaire interactif sur PalmPilot avec échange des données distant avec une plate-forme Unix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CNES à Toulouse : Développement de procédures d’alimentation DataStage</a:t>
              </a:r>
              <a:endParaRPr sz="10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000"/>
                <a:buFont typeface="Arial"/>
                <a:buChar char="•"/>
              </a:pPr>
              <a:r>
                <a:rPr lang="fr-FR" sz="10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Kaufmann &amp; Broad à Toulouse : Réalisation d’une solution de base de données d’estimation des coûts de construction immobilière avec Reporting sur le logiciel SPSS et formation des utilisateurs</a:t>
              </a:r>
              <a:endParaRPr/>
            </a:p>
          </p:txBody>
        </p:sp>
        <p:sp>
          <p:nvSpPr>
            <p:cNvPr id="115" name="Google Shape;115;p5"/>
            <p:cNvSpPr txBox="1"/>
            <p:nvPr/>
          </p:nvSpPr>
          <p:spPr>
            <a:xfrm>
              <a:off x="3299427" y="2215985"/>
              <a:ext cx="5768373" cy="2138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1">
                  <a:solidFill>
                    <a:srgbClr val="0099FF"/>
                  </a:solidFill>
                  <a:latin typeface="Arial"/>
                  <a:ea typeface="Arial"/>
                  <a:cs typeface="Arial"/>
                  <a:sym typeface="Arial"/>
                </a:rPr>
                <a:t>Agence Homsys</a:t>
              </a:r>
              <a:br>
                <a:rPr lang="fr-FR" sz="1200" b="1">
                  <a:solidFill>
                    <a:srgbClr val="00A1FE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fr-FR" sz="1200" b="1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Consultant | 1999</a:t>
              </a:r>
              <a:endParaRPr/>
            </a:p>
          </p:txBody>
        </p:sp>
      </p:grpSp>
      <p:sp>
        <p:nvSpPr>
          <p:cNvPr id="116" name="Google Shape;116;p5"/>
          <p:cNvSpPr/>
          <p:nvPr/>
        </p:nvSpPr>
        <p:spPr>
          <a:xfrm>
            <a:off x="452075" y="6002675"/>
            <a:ext cx="2028000" cy="668400"/>
          </a:xfrm>
          <a:prstGeom prst="rect">
            <a:avLst/>
          </a:prstGeom>
          <a:solidFill>
            <a:srgbClr val="0099FF"/>
          </a:solidFill>
          <a:ln w="9525" cap="flat" cmpd="sng">
            <a:solidFill>
              <a:srgbClr val="009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Thème 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17</cp:revision>
  <dcterms:modified xsi:type="dcterms:W3CDTF">2025-11-03T10:40:23Z</dcterms:modified>
</cp:coreProperties>
</file>